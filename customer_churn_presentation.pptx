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60B17E-4FB6-4CDA-8E6B-3F0B177B7934}">
  <a:tblStyle styleId="{0560B17E-4FB6-4CDA-8E6B-3F0B177B793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4.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RobotoMon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570a6758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570a6758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570a6758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570a6758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5358fb72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5358fb72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5358fb722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5358fb72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5358fb722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5358fb722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529483b0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529483b0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Normalized to hide class imbalance.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5358fb722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5358fb722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529483b0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529483b0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5358fb722_5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5358fb722_5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5358fb722_5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5358fb722_5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5358fb722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5358fb722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529483b0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529483b0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570a67583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570a67583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529483b0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529483b0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529483b0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529483b0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529483b0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529483b0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570a6758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570a6758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570a67583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570a67583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570a67583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570a67583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5c99094e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b5c99094e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570a67583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570a67583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570a67583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b570a67583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say that we think dim reduction doesnt justify the destruction of feature interpretability.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570a67583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b570a67583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570a6758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b570a6758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b506f912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b506f912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5358fb722_1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b5358fb722_1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Left : contract It provides the highest average "Gain" (reduction in loss), meaning it’s the most efficient tool the model has for separating your data into groups.</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Right: </a:t>
            </a:r>
            <a:r>
              <a:rPr b="1" lang="da">
                <a:solidFill>
                  <a:schemeClr val="dk1"/>
                </a:solidFill>
              </a:rPr>
              <a:t>In the SHAP chart:</a:t>
            </a:r>
            <a:r>
              <a:rPr lang="da">
                <a:solidFill>
                  <a:schemeClr val="dk1"/>
                </a:solidFill>
              </a:rPr>
              <a:t> It has the highest mean impact on the model's output magnitude.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da">
                <a:solidFill>
                  <a:schemeClr val="dk1"/>
                </a:solidFill>
              </a:rPr>
              <a:t>Built-in (Gain)(improvement at each split):</a:t>
            </a:r>
            <a:r>
              <a:rPr lang="da">
                <a:solidFill>
                  <a:schemeClr val="dk1"/>
                </a:solidFill>
              </a:rPr>
              <a:t>. In tree models, a continuous feature like </a:t>
            </a:r>
            <a:r>
              <a:rPr lang="da">
                <a:solidFill>
                  <a:srgbClr val="188038"/>
                </a:solidFill>
                <a:latin typeface="Roboto Mono"/>
                <a:ea typeface="Roboto Mono"/>
                <a:cs typeface="Roboto Mono"/>
                <a:sym typeface="Roboto Mono"/>
              </a:rPr>
              <a:t>MonthlyCharges</a:t>
            </a:r>
            <a:r>
              <a:rPr lang="da">
                <a:solidFill>
                  <a:schemeClr val="dk1"/>
                </a:solidFill>
              </a:rPr>
              <a:t> might be split many times, but each individual split might only provide a small "Gain."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da">
                <a:solidFill>
                  <a:schemeClr val="dk1"/>
                </a:solidFill>
              </a:rPr>
              <a:t>SHAP:</a:t>
            </a:r>
            <a:r>
              <a:rPr lang="da">
                <a:solidFill>
                  <a:schemeClr val="dk1"/>
                </a:solidFill>
              </a:rPr>
              <a:t> is better at "adding up" all those small splits across the entire model to show you the total impact. It tells you that while </a:t>
            </a:r>
            <a:r>
              <a:rPr lang="da">
                <a:solidFill>
                  <a:srgbClr val="188038"/>
                </a:solidFill>
                <a:latin typeface="Roboto Mono"/>
                <a:ea typeface="Roboto Mono"/>
                <a:cs typeface="Roboto Mono"/>
                <a:sym typeface="Roboto Mono"/>
              </a:rPr>
              <a:t>Contract</a:t>
            </a:r>
            <a:r>
              <a:rPr lang="da">
                <a:solidFill>
                  <a:schemeClr val="dk1"/>
                </a:solidFill>
              </a:rPr>
              <a:t> is the most decisive, </a:t>
            </a:r>
            <a:r>
              <a:rPr lang="da">
                <a:solidFill>
                  <a:srgbClr val="188038"/>
                </a:solidFill>
                <a:latin typeface="Roboto Mono"/>
                <a:ea typeface="Roboto Mono"/>
                <a:cs typeface="Roboto Mono"/>
                <a:sym typeface="Roboto Mono"/>
              </a:rPr>
              <a:t>tenure</a:t>
            </a:r>
            <a:r>
              <a:rPr lang="da">
                <a:solidFill>
                  <a:schemeClr val="dk1"/>
                </a:solidFill>
              </a:rPr>
              <a:t> is actually doing a huge amount of work in fine-tuning the final prediction for each user.</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b506f9125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b506f9125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customers</a:t>
            </a:r>
            <a:r>
              <a:rPr lang="da"/>
              <a:t> with low tenure (affliation with the company), are more likely to churn. combined with contract it </a:t>
            </a:r>
            <a:r>
              <a:rPr lang="da"/>
              <a:t>magnifies</a:t>
            </a:r>
            <a:r>
              <a:rPr lang="da"/>
              <a:t> this. </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Long-term customers (high tenure) are much less likely to churn</a:t>
            </a:r>
            <a:br>
              <a:rPr lang="da"/>
            </a:br>
            <a:br>
              <a:rPr lang="da"/>
            </a:br>
            <a:r>
              <a:rPr b="1" lang="da">
                <a:solidFill>
                  <a:schemeClr val="dk1"/>
                </a:solidFill>
              </a:rPr>
              <a:t>New Customers (Left Side):</a:t>
            </a:r>
            <a:r>
              <a:rPr lang="da">
                <a:solidFill>
                  <a:schemeClr val="dk1"/>
                </a:solidFill>
              </a:rPr>
              <a:t> Most of the high-risk (positive SHAP) dots are </a:t>
            </a:r>
            <a:r>
              <a:rPr b="1" lang="da">
                <a:solidFill>
                  <a:schemeClr val="dk1"/>
                </a:solidFill>
              </a:rPr>
              <a:t>blue</a:t>
            </a:r>
            <a:r>
              <a:rPr lang="da">
                <a:solidFill>
                  <a:schemeClr val="dk1"/>
                </a:solidFill>
              </a:rPr>
              <a:t>. This shows that being a new customer on a </a:t>
            </a:r>
            <a:r>
              <a:rPr b="1" lang="da">
                <a:solidFill>
                  <a:schemeClr val="dk1"/>
                </a:solidFill>
              </a:rPr>
              <a:t>Month-to-month</a:t>
            </a:r>
            <a:r>
              <a:rPr lang="da">
                <a:solidFill>
                  <a:schemeClr val="dk1"/>
                </a:solidFill>
              </a:rPr>
              <a:t> contract is the highest risk state in your model.</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506f9125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b506f9125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da"/>
              <a:t>FN</a:t>
            </a:r>
            <a:r>
              <a:rPr lang="da"/>
              <a:t> has </a:t>
            </a:r>
            <a:r>
              <a:rPr b="1" lang="da"/>
              <a:t>contract</a:t>
            </a:r>
            <a:r>
              <a:rPr lang="da"/>
              <a:t> as best predictor, where a high feature values pushes the prediction toward non churn, in contrast </a:t>
            </a:r>
            <a:r>
              <a:rPr b="1" lang="da"/>
              <a:t>TP</a:t>
            </a:r>
            <a:r>
              <a:rPr lang="da"/>
              <a:t> has contract as the second most value feature, where we </a:t>
            </a:r>
            <a:r>
              <a:rPr lang="da"/>
              <a:t>actually</a:t>
            </a:r>
            <a:r>
              <a:rPr lang="da"/>
              <a:t> only has low values. This can indicate that the model has a hard time correctly classify a datapoint if it has a high contract. </a:t>
            </a:r>
            <a:r>
              <a:rPr lang="da"/>
              <a:t>Further</a:t>
            </a:r>
            <a:r>
              <a:rPr lang="da"/>
              <a:t> more </a:t>
            </a:r>
            <a:r>
              <a:rPr lang="da"/>
              <a:t>tenure</a:t>
            </a:r>
            <a:r>
              <a:rPr lang="da"/>
              <a:t> is in second and first place, with </a:t>
            </a:r>
            <a:r>
              <a:rPr lang="da"/>
              <a:t>similar</a:t>
            </a:r>
            <a:r>
              <a:rPr lang="da"/>
              <a:t> spread, but more high values in FN and more low values in TP. Internet service has . High </a:t>
            </a:r>
            <a:r>
              <a:rPr lang="da"/>
              <a:t>similarity</a:t>
            </a:r>
            <a:r>
              <a:rPr lang="da"/>
              <a:t> in internetservice Fiber </a:t>
            </a:r>
            <a:r>
              <a:rPr lang="da"/>
              <a:t>optic</a:t>
            </a:r>
            <a:r>
              <a:rPr lang="da"/>
              <a:t>. More spread in Monthly chares for FN. </a:t>
            </a:r>
            <a:br>
              <a:rPr lang="da"/>
            </a:br>
            <a:br>
              <a:rPr lang="da"/>
            </a:br>
            <a:br>
              <a:rPr lang="da"/>
            </a:br>
            <a:r>
              <a:rPr lang="da">
                <a:solidFill>
                  <a:schemeClr val="dk1"/>
                </a:solidFill>
              </a:rPr>
              <a:t>False Negatives are likely </a:t>
            </a:r>
            <a:r>
              <a:rPr b="1" lang="da">
                <a:solidFill>
                  <a:schemeClr val="dk1"/>
                </a:solidFill>
              </a:rPr>
              <a:t>"Loyalists who reached a breaking point."</a:t>
            </a:r>
            <a:r>
              <a:rPr lang="da">
                <a:solidFill>
                  <a:schemeClr val="dk1"/>
                </a:solidFill>
              </a:rPr>
              <a:t> They have high tenure and long-term contracts (which usually mean they stay), but they churned anyway—perhaps due to a bad customer service experience or a competitor offer—reasons the model can't "see" in the current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The model tends to miss churners when features such as long contract length and high tenure strongly push predictions toward non-churn, even when churn-related indicators are present.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506f9125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506f9125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506f9125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b506f9125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5358fb722_1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b5358fb722_1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da">
                <a:solidFill>
                  <a:schemeClr val="dk1"/>
                </a:solidFill>
              </a:rPr>
              <a:t>converted 45 false negatives into true positives</a:t>
            </a:r>
            <a:endParaRPr b="1">
              <a:solidFill>
                <a:schemeClr val="dk1"/>
              </a:solidFill>
            </a:endParaRPr>
          </a:p>
          <a:p>
            <a:pPr indent="0" lvl="0" marL="0" rtl="0" algn="l">
              <a:spcBef>
                <a:spcPts val="0"/>
              </a:spcBef>
              <a:spcAft>
                <a:spcPts val="0"/>
              </a:spcAft>
              <a:buNone/>
            </a:pPr>
            <a:r>
              <a:rPr lang="da">
                <a:solidFill>
                  <a:schemeClr val="dk1"/>
                </a:solidFill>
              </a:rPr>
              <a:t>At the cost of </a:t>
            </a:r>
            <a:r>
              <a:rPr b="1" lang="da">
                <a:solidFill>
                  <a:schemeClr val="dk1"/>
                </a:solidFill>
              </a:rPr>
              <a:t>54 additional false positives</a:t>
            </a:r>
            <a:endParaRPr b="1">
              <a:solidFill>
                <a:schemeClr val="dk1"/>
              </a:solidFill>
            </a:endParaRPr>
          </a:p>
          <a:p>
            <a:pPr indent="0" lvl="0" marL="0" rtl="0" algn="l">
              <a:spcBef>
                <a:spcPts val="0"/>
              </a:spcBef>
              <a:spcAft>
                <a:spcPts val="0"/>
              </a:spcAft>
              <a:buNone/>
            </a:pPr>
            <a:r>
              <a:rPr b="1" lang="da">
                <a:solidFill>
                  <a:schemeClr val="dk1"/>
                </a:solidFill>
              </a:rPr>
              <a:t>accuracy</a:t>
            </a:r>
            <a:r>
              <a:rPr b="1" lang="da">
                <a:solidFill>
                  <a:schemeClr val="dk1"/>
                </a:solidFill>
              </a:rPr>
              <a:t> the same.</a:t>
            </a:r>
            <a:br>
              <a:rPr b="1" lang="da">
                <a:solidFill>
                  <a:schemeClr val="dk1"/>
                </a:solidFill>
              </a:rPr>
            </a:b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5358fb722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b5358fb722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a"/>
              <a:t>If a features pushes FN to wards non churn, and dont do much in TP = prune feature</a:t>
            </a:r>
            <a:endParaRPr/>
          </a:p>
          <a:p>
            <a:pPr indent="0" lvl="0" marL="0" rtl="0" algn="l">
              <a:spcBef>
                <a:spcPts val="0"/>
              </a:spcBef>
              <a:spcAft>
                <a:spcPts val="0"/>
              </a:spcAft>
              <a:buNone/>
            </a:pPr>
            <a:r>
              <a:t/>
            </a:r>
            <a:endParaRPr/>
          </a:p>
          <a:p>
            <a:pPr indent="0" lvl="0" marL="0" rtl="0" algn="l">
              <a:spcBef>
                <a:spcPts val="0"/>
              </a:spcBef>
              <a:spcAft>
                <a:spcPts val="0"/>
              </a:spcAft>
              <a:buNone/>
            </a:pPr>
            <a:r>
              <a:rPr lang="da"/>
              <a:t>If a feature adds little to both classes, prune.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5c99094e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b5c99094e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25.png"/><Relationship Id="rId6"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4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Forskøn dette dias" id="54" name="Google Shape;54;p13"/>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Forskøn dette dias" id="59" name="Google Shape;59;p14"/>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Forskøn dette dias" id="64" name="Google Shape;64;p15"/>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Forskøn dette dias" id="69" name="Google Shape;69;p16"/>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Forskøn dette dias" id="74" name="Google Shape;74;p17"/>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8"/>
          <p:cNvPicPr preferRelativeResize="0"/>
          <p:nvPr/>
        </p:nvPicPr>
        <p:blipFill>
          <a:blip r:embed="rId3">
            <a:alphaModFix/>
          </a:blip>
          <a:stretch>
            <a:fillRect/>
          </a:stretch>
        </p:blipFill>
        <p:spPr>
          <a:xfrm>
            <a:off x="2129025" y="1618925"/>
            <a:ext cx="5457601" cy="201214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Forskøn dette dias" id="84" name="Google Shape;84;p19"/>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20"/>
          <p:cNvPicPr preferRelativeResize="0"/>
          <p:nvPr/>
        </p:nvPicPr>
        <p:blipFill>
          <a:blip r:embed="rId3">
            <a:alphaModFix/>
          </a:blip>
          <a:stretch>
            <a:fillRect/>
          </a:stretch>
        </p:blipFill>
        <p:spPr>
          <a:xfrm>
            <a:off x="4808450" y="1011800"/>
            <a:ext cx="4115999" cy="2735126"/>
          </a:xfrm>
          <a:prstGeom prst="rect">
            <a:avLst/>
          </a:prstGeom>
          <a:noFill/>
          <a:ln>
            <a:noFill/>
          </a:ln>
        </p:spPr>
      </p:pic>
      <p:pic>
        <p:nvPicPr>
          <p:cNvPr id="90" name="Google Shape;90;p20"/>
          <p:cNvPicPr preferRelativeResize="0"/>
          <p:nvPr/>
        </p:nvPicPr>
        <p:blipFill>
          <a:blip r:embed="rId4">
            <a:alphaModFix/>
          </a:blip>
          <a:stretch>
            <a:fillRect/>
          </a:stretch>
        </p:blipFill>
        <p:spPr>
          <a:xfrm>
            <a:off x="219875" y="657776"/>
            <a:ext cx="3958926" cy="3443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Forskøn dette dias" id="95" name="Google Shape;95;p21"/>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Forskøn dette dias" id="100" name="Google Shape;100;p22"/>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Forskøn dette dias" id="105" name="Google Shape;105;p23"/>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4"/>
          <p:cNvPicPr preferRelativeResize="0"/>
          <p:nvPr/>
        </p:nvPicPr>
        <p:blipFill>
          <a:blip r:embed="rId3">
            <a:alphaModFix/>
          </a:blip>
          <a:stretch>
            <a:fillRect/>
          </a:stretch>
        </p:blipFill>
        <p:spPr>
          <a:xfrm>
            <a:off x="2495625" y="1471775"/>
            <a:ext cx="4267201" cy="264674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Metrics</a:t>
            </a:r>
            <a:endParaRPr/>
          </a:p>
        </p:txBody>
      </p:sp>
      <p:pic>
        <p:nvPicPr>
          <p:cNvPr id="116" name="Google Shape;116;p25"/>
          <p:cNvPicPr preferRelativeResize="0"/>
          <p:nvPr/>
        </p:nvPicPr>
        <p:blipFill>
          <a:blip r:embed="rId3">
            <a:alphaModFix/>
          </a:blip>
          <a:stretch>
            <a:fillRect/>
          </a:stretch>
        </p:blipFill>
        <p:spPr>
          <a:xfrm>
            <a:off x="823950" y="1242150"/>
            <a:ext cx="2495550" cy="361950"/>
          </a:xfrm>
          <a:prstGeom prst="rect">
            <a:avLst/>
          </a:prstGeom>
          <a:noFill/>
          <a:ln>
            <a:noFill/>
          </a:ln>
        </p:spPr>
      </p:pic>
      <p:pic>
        <p:nvPicPr>
          <p:cNvPr id="117" name="Google Shape;117;p25"/>
          <p:cNvPicPr preferRelativeResize="0"/>
          <p:nvPr/>
        </p:nvPicPr>
        <p:blipFill>
          <a:blip r:embed="rId4">
            <a:alphaModFix/>
          </a:blip>
          <a:stretch>
            <a:fillRect/>
          </a:stretch>
        </p:blipFill>
        <p:spPr>
          <a:xfrm>
            <a:off x="823950" y="2143125"/>
            <a:ext cx="1485900" cy="809625"/>
          </a:xfrm>
          <a:prstGeom prst="rect">
            <a:avLst/>
          </a:prstGeom>
          <a:noFill/>
          <a:ln>
            <a:noFill/>
          </a:ln>
        </p:spPr>
      </p:pic>
      <p:pic>
        <p:nvPicPr>
          <p:cNvPr id="118" name="Google Shape;118;p25"/>
          <p:cNvPicPr preferRelativeResize="0"/>
          <p:nvPr/>
        </p:nvPicPr>
        <p:blipFill>
          <a:blip r:embed="rId5">
            <a:alphaModFix/>
          </a:blip>
          <a:stretch>
            <a:fillRect/>
          </a:stretch>
        </p:blipFill>
        <p:spPr>
          <a:xfrm>
            <a:off x="823950" y="3621038"/>
            <a:ext cx="2571750" cy="409575"/>
          </a:xfrm>
          <a:prstGeom prst="rect">
            <a:avLst/>
          </a:prstGeom>
          <a:noFill/>
          <a:ln>
            <a:noFill/>
          </a:ln>
        </p:spPr>
      </p:pic>
      <p:sp>
        <p:nvSpPr>
          <p:cNvPr id="119" name="Google Shape;119;p25"/>
          <p:cNvSpPr txBox="1"/>
          <p:nvPr/>
        </p:nvSpPr>
        <p:spPr>
          <a:xfrm>
            <a:off x="4130475" y="3374325"/>
            <a:ext cx="4399500" cy="903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202122"/>
              </a:buClr>
              <a:buSzPts val="1400"/>
              <a:buChar char="-"/>
            </a:pPr>
            <a:r>
              <a:rPr lang="da">
                <a:solidFill>
                  <a:srgbClr val="202122"/>
                </a:solidFill>
                <a:highlight>
                  <a:srgbClr val="FFFFFF"/>
                </a:highlight>
              </a:rPr>
              <a:t>Fβ</a:t>
            </a:r>
            <a:r>
              <a:rPr lang="da" sz="1200">
                <a:solidFill>
                  <a:srgbClr val="202122"/>
                </a:solidFill>
                <a:highlight>
                  <a:srgbClr val="FFFFFF"/>
                </a:highlight>
              </a:rPr>
              <a:t>, that uses a positive real factor </a:t>
            </a:r>
            <a:r>
              <a:rPr lang="da">
                <a:solidFill>
                  <a:srgbClr val="202122"/>
                </a:solidFill>
                <a:highlight>
                  <a:srgbClr val="FFFFFF"/>
                </a:highlight>
              </a:rPr>
              <a:t>β</a:t>
            </a:r>
            <a:r>
              <a:rPr lang="da" sz="1200">
                <a:solidFill>
                  <a:srgbClr val="202122"/>
                </a:solidFill>
                <a:highlight>
                  <a:srgbClr val="FFFFFF"/>
                </a:highlight>
              </a:rPr>
              <a:t>, where </a:t>
            </a:r>
            <a:r>
              <a:rPr lang="da">
                <a:solidFill>
                  <a:srgbClr val="202122"/>
                </a:solidFill>
                <a:highlight>
                  <a:srgbClr val="FFFFFF"/>
                </a:highlight>
              </a:rPr>
              <a:t>β </a:t>
            </a:r>
            <a:r>
              <a:rPr lang="da" sz="1200">
                <a:solidFill>
                  <a:srgbClr val="202122"/>
                </a:solidFill>
                <a:highlight>
                  <a:srgbClr val="FFFFFF"/>
                </a:highlight>
              </a:rPr>
              <a:t>is chosen such that recall is considered </a:t>
            </a:r>
            <a:r>
              <a:rPr lang="da">
                <a:solidFill>
                  <a:srgbClr val="202122"/>
                </a:solidFill>
                <a:highlight>
                  <a:srgbClr val="FFFFFF"/>
                </a:highlight>
              </a:rPr>
              <a:t>β </a:t>
            </a:r>
            <a:r>
              <a:rPr lang="da" sz="1200">
                <a:solidFill>
                  <a:srgbClr val="202122"/>
                </a:solidFill>
                <a:highlight>
                  <a:srgbClr val="FFFFFF"/>
                </a:highlight>
              </a:rPr>
              <a:t>times as important as precision.</a:t>
            </a:r>
            <a:endParaRPr/>
          </a:p>
          <a:p>
            <a:pPr indent="0" lvl="0" marL="0" rtl="0" algn="l">
              <a:spcBef>
                <a:spcPts val="0"/>
              </a:spcBef>
              <a:spcAft>
                <a:spcPts val="0"/>
              </a:spcAft>
              <a:buNone/>
            </a:pPr>
            <a:r>
              <a:t/>
            </a:r>
            <a:endParaRPr sz="1200">
              <a:solidFill>
                <a:srgbClr val="202122"/>
              </a:solidFill>
              <a:highlight>
                <a:srgbClr val="FFFFFF"/>
              </a:highlight>
            </a:endParaRPr>
          </a:p>
        </p:txBody>
      </p:sp>
      <p:sp>
        <p:nvSpPr>
          <p:cNvPr id="120" name="Google Shape;120;p25"/>
          <p:cNvSpPr txBox="1"/>
          <p:nvPr/>
        </p:nvSpPr>
        <p:spPr>
          <a:xfrm>
            <a:off x="4052875" y="2096438"/>
            <a:ext cx="4399500" cy="903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202122"/>
              </a:buClr>
              <a:buSzPts val="1400"/>
              <a:buChar char="-"/>
            </a:pPr>
            <a:r>
              <a:rPr lang="da" sz="1200">
                <a:solidFill>
                  <a:srgbClr val="202122"/>
                </a:solidFill>
                <a:highlight>
                  <a:srgbClr val="FFFFFF"/>
                </a:highlight>
              </a:rPr>
              <a:t>Precision and recall are also common metrics and should be presented together as there exists a </a:t>
            </a:r>
            <a:r>
              <a:rPr lang="da" sz="1200">
                <a:solidFill>
                  <a:srgbClr val="202122"/>
                </a:solidFill>
                <a:highlight>
                  <a:srgbClr val="FFFFFF"/>
                </a:highlight>
              </a:rPr>
              <a:t>tradeoff</a:t>
            </a:r>
            <a:r>
              <a:rPr lang="da" sz="1200">
                <a:solidFill>
                  <a:srgbClr val="202122"/>
                </a:solidFill>
                <a:highlight>
                  <a:srgbClr val="FFFFFF"/>
                </a:highlight>
              </a:rPr>
              <a:t> between them. They provide a more detailed picture than accuracy when data is </a:t>
            </a:r>
            <a:r>
              <a:rPr lang="da" sz="1200">
                <a:solidFill>
                  <a:srgbClr val="202122"/>
                </a:solidFill>
                <a:highlight>
                  <a:srgbClr val="FFFFFF"/>
                </a:highlight>
              </a:rPr>
              <a:t>imbalanced. </a:t>
            </a:r>
            <a:r>
              <a:rPr lang="da" sz="1200">
                <a:solidFill>
                  <a:srgbClr val="202122"/>
                </a:solidFill>
                <a:highlight>
                  <a:srgbClr val="FFFFFF"/>
                </a:highlight>
              </a:rPr>
              <a:t> </a:t>
            </a:r>
            <a:endParaRPr sz="1200">
              <a:solidFill>
                <a:srgbClr val="202122"/>
              </a:solidFill>
              <a:highlight>
                <a:srgbClr val="FFFFFF"/>
              </a:highlight>
            </a:endParaRPr>
          </a:p>
        </p:txBody>
      </p:sp>
      <p:sp>
        <p:nvSpPr>
          <p:cNvPr id="121" name="Google Shape;121;p25"/>
          <p:cNvSpPr txBox="1"/>
          <p:nvPr/>
        </p:nvSpPr>
        <p:spPr>
          <a:xfrm>
            <a:off x="4130475" y="1017713"/>
            <a:ext cx="4399500" cy="903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202122"/>
              </a:buClr>
              <a:buSzPts val="1400"/>
              <a:buChar char="-"/>
            </a:pPr>
            <a:r>
              <a:rPr lang="da" sz="1200">
                <a:solidFill>
                  <a:srgbClr val="202122"/>
                </a:solidFill>
                <a:highlight>
                  <a:srgbClr val="FFFFFF"/>
                </a:highlight>
              </a:rPr>
              <a:t>Accuracy is the most common metric for </a:t>
            </a:r>
            <a:r>
              <a:rPr lang="da" sz="1200">
                <a:solidFill>
                  <a:srgbClr val="202122"/>
                </a:solidFill>
                <a:highlight>
                  <a:srgbClr val="FFFFFF"/>
                </a:highlight>
              </a:rPr>
              <a:t>classification, however can be a misleading metric for imbalanced data sets.</a:t>
            </a:r>
            <a:endParaRPr/>
          </a:p>
          <a:p>
            <a:pPr indent="0" lvl="0" marL="0" rtl="0" algn="l">
              <a:spcBef>
                <a:spcPts val="0"/>
              </a:spcBef>
              <a:spcAft>
                <a:spcPts val="0"/>
              </a:spcAft>
              <a:buNone/>
            </a:pPr>
            <a:r>
              <a:t/>
            </a:r>
            <a:endParaRPr sz="1200">
              <a:solidFill>
                <a:srgbClr val="202122"/>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Shallow Learners: Logistic Regression</a:t>
            </a:r>
            <a:endParaRPr/>
          </a:p>
        </p:txBody>
      </p:sp>
      <p:sp>
        <p:nvSpPr>
          <p:cNvPr id="127" name="Google Shape;127;p26"/>
          <p:cNvSpPr txBox="1"/>
          <p:nvPr>
            <p:ph idx="1" type="body"/>
          </p:nvPr>
        </p:nvSpPr>
        <p:spPr>
          <a:xfrm>
            <a:off x="311700" y="1424125"/>
            <a:ext cx="3765000" cy="246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da" sz="1050"/>
              <a:t>Logistic Regression is an informative baseline when performing classification, as the model is linear and learning is stable. Using a linear model as a baseline helps detect overfitting if substantial performance gains are not observed with higher-capacity models. Additionally, the model provides direct interpretability through its learned coefficients, allowing us to quantify the direction and magnitude of each feature’s contribution to churn. We therefore deliberately choose to train this model first to establish both a performance and explainability benchmark.</a:t>
            </a:r>
            <a:endParaRPr sz="1050"/>
          </a:p>
          <a:p>
            <a:pPr indent="0" lvl="0" marL="0" rtl="0" algn="l">
              <a:spcBef>
                <a:spcPts val="1200"/>
              </a:spcBef>
              <a:spcAft>
                <a:spcPts val="1200"/>
              </a:spcAft>
              <a:buNone/>
            </a:pPr>
            <a:r>
              <a:t/>
            </a:r>
            <a:endParaRPr sz="1050"/>
          </a:p>
        </p:txBody>
      </p:sp>
      <p:pic>
        <p:nvPicPr>
          <p:cNvPr id="128" name="Google Shape;128;p26"/>
          <p:cNvPicPr preferRelativeResize="0"/>
          <p:nvPr/>
        </p:nvPicPr>
        <p:blipFill>
          <a:blip r:embed="rId3">
            <a:alphaModFix/>
          </a:blip>
          <a:stretch>
            <a:fillRect/>
          </a:stretch>
        </p:blipFill>
        <p:spPr>
          <a:xfrm>
            <a:off x="4194675" y="1159850"/>
            <a:ext cx="4402725" cy="2730799"/>
          </a:xfrm>
          <a:prstGeom prst="rect">
            <a:avLst/>
          </a:prstGeom>
          <a:noFill/>
          <a:ln>
            <a:noFill/>
          </a:ln>
        </p:spPr>
      </p:pic>
      <p:pic>
        <p:nvPicPr>
          <p:cNvPr id="129" name="Google Shape;129;p26"/>
          <p:cNvPicPr preferRelativeResize="0"/>
          <p:nvPr/>
        </p:nvPicPr>
        <p:blipFill>
          <a:blip r:embed="rId4">
            <a:alphaModFix/>
          </a:blip>
          <a:stretch>
            <a:fillRect/>
          </a:stretch>
        </p:blipFill>
        <p:spPr>
          <a:xfrm>
            <a:off x="152400" y="4160500"/>
            <a:ext cx="8839197" cy="54531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da"/>
              <a:t>Shallow Learners: Random Forest</a:t>
            </a:r>
            <a:endParaRPr/>
          </a:p>
          <a:p>
            <a:pPr indent="0" lvl="0" marL="0" rtl="0" algn="l">
              <a:spcBef>
                <a:spcPts val="0"/>
              </a:spcBef>
              <a:spcAft>
                <a:spcPts val="0"/>
              </a:spcAft>
              <a:buNone/>
            </a:pPr>
            <a:r>
              <a:t/>
            </a:r>
            <a:endParaRPr/>
          </a:p>
        </p:txBody>
      </p:sp>
      <p:sp>
        <p:nvSpPr>
          <p:cNvPr id="135" name="Google Shape;135;p27"/>
          <p:cNvSpPr txBox="1"/>
          <p:nvPr>
            <p:ph idx="1" type="body"/>
          </p:nvPr>
        </p:nvSpPr>
        <p:spPr>
          <a:xfrm>
            <a:off x="311700" y="1152475"/>
            <a:ext cx="4347300" cy="2682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a" sz="1050"/>
              <a:t>Random Forest is a powerful non-linear model that extends decision trees by aggregating many diverse learners, improving predictive performance and robustness. In addition to performance gains, Random Forests provide feature importance estimates based on how frequently and effectively features are used in splits, enabling insight into the key drivers of churn. Comparing these importance scores to the coefficients from the linear baseline helps assess whether non-linear patterns meaningfully influence churn behavior.</a:t>
            </a:r>
            <a:endParaRPr sz="1050"/>
          </a:p>
        </p:txBody>
      </p:sp>
      <p:pic>
        <p:nvPicPr>
          <p:cNvPr id="136" name="Google Shape;136;p27"/>
          <p:cNvPicPr preferRelativeResize="0"/>
          <p:nvPr/>
        </p:nvPicPr>
        <p:blipFill>
          <a:blip r:embed="rId3">
            <a:alphaModFix/>
          </a:blip>
          <a:stretch>
            <a:fillRect/>
          </a:stretch>
        </p:blipFill>
        <p:spPr>
          <a:xfrm>
            <a:off x="5216900" y="1134525"/>
            <a:ext cx="3615399" cy="2700125"/>
          </a:xfrm>
          <a:prstGeom prst="rect">
            <a:avLst/>
          </a:prstGeom>
          <a:noFill/>
          <a:ln>
            <a:noFill/>
          </a:ln>
        </p:spPr>
      </p:pic>
      <p:pic>
        <p:nvPicPr>
          <p:cNvPr id="137" name="Google Shape;137;p27"/>
          <p:cNvPicPr preferRelativeResize="0"/>
          <p:nvPr/>
        </p:nvPicPr>
        <p:blipFill>
          <a:blip r:embed="rId4">
            <a:alphaModFix/>
          </a:blip>
          <a:stretch>
            <a:fillRect/>
          </a:stretch>
        </p:blipFill>
        <p:spPr>
          <a:xfrm>
            <a:off x="152400" y="4075250"/>
            <a:ext cx="8839200" cy="5939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da"/>
              <a:t>Shallow Learners: XGBoost</a:t>
            </a:r>
            <a:endParaRPr/>
          </a:p>
          <a:p>
            <a:pPr indent="0" lvl="0" marL="0" rtl="0" algn="l">
              <a:spcBef>
                <a:spcPts val="0"/>
              </a:spcBef>
              <a:spcAft>
                <a:spcPts val="0"/>
              </a:spcAft>
              <a:buNone/>
            </a:pPr>
            <a:r>
              <a:t/>
            </a:r>
            <a:endParaRPr/>
          </a:p>
        </p:txBody>
      </p:sp>
      <p:sp>
        <p:nvSpPr>
          <p:cNvPr id="143" name="Google Shape;143;p28"/>
          <p:cNvSpPr txBox="1"/>
          <p:nvPr>
            <p:ph idx="1" type="body"/>
          </p:nvPr>
        </p:nvSpPr>
        <p:spPr>
          <a:xfrm>
            <a:off x="311700" y="1152475"/>
            <a:ext cx="4665300" cy="2588700"/>
          </a:xfrm>
          <a:prstGeom prst="rect">
            <a:avLst/>
          </a:prstGeom>
        </p:spPr>
        <p:txBody>
          <a:bodyPr anchorCtr="0" anchor="t" bIns="91425" lIns="91425" spcFirstLastPara="1" rIns="91425" wrap="square" tIns="91425">
            <a:normAutofit fontScale="25000"/>
          </a:bodyPr>
          <a:lstStyle/>
          <a:p>
            <a:pPr indent="0" lvl="0" marL="0" rtl="0" algn="l">
              <a:spcBef>
                <a:spcPts val="1200"/>
              </a:spcBef>
              <a:spcAft>
                <a:spcPts val="1200"/>
              </a:spcAft>
              <a:buClr>
                <a:schemeClr val="dk1"/>
              </a:buClr>
              <a:buSzPct val="25789"/>
              <a:buFont typeface="Arial"/>
              <a:buNone/>
            </a:pPr>
            <a:r>
              <a:rPr lang="da" sz="4265"/>
              <a:t>XGBoost is a high-capacity gradient boosting model that sequentially builds decision trees to correct the errors of previous learners, enabling it to capture complex non-linear relationships and higher-order feature interactions. </a:t>
            </a:r>
            <a:r>
              <a:rPr lang="da" sz="4265" u="sng"/>
              <a:t>Beyond performance, the model supports multiple feature importance measures (e.g., gain, cover, and frequency), which help identify the most influential drivers of churn.  Notably, these importance measures (e.g., gain, cover, and frequency) often yield inconsistent feature rankings. This lack of agreement motivates the use of SHAP values, which guarantees that features are ordered correctly with respect to their contribution to the model’s predictions.</a:t>
            </a:r>
            <a:endParaRPr u="sng"/>
          </a:p>
        </p:txBody>
      </p:sp>
      <p:pic>
        <p:nvPicPr>
          <p:cNvPr id="144" name="Google Shape;144;p28"/>
          <p:cNvPicPr preferRelativeResize="0"/>
          <p:nvPr/>
        </p:nvPicPr>
        <p:blipFill>
          <a:blip r:embed="rId3">
            <a:alphaModFix/>
          </a:blip>
          <a:stretch>
            <a:fillRect/>
          </a:stretch>
        </p:blipFill>
        <p:spPr>
          <a:xfrm>
            <a:off x="5270750" y="1152475"/>
            <a:ext cx="3466376" cy="2588826"/>
          </a:xfrm>
          <a:prstGeom prst="rect">
            <a:avLst/>
          </a:prstGeom>
          <a:noFill/>
          <a:ln>
            <a:noFill/>
          </a:ln>
        </p:spPr>
      </p:pic>
      <p:pic>
        <p:nvPicPr>
          <p:cNvPr id="145" name="Google Shape;145;p28"/>
          <p:cNvPicPr preferRelativeResize="0"/>
          <p:nvPr/>
        </p:nvPicPr>
        <p:blipFill>
          <a:blip r:embed="rId4">
            <a:alphaModFix/>
          </a:blip>
          <a:stretch>
            <a:fillRect/>
          </a:stretch>
        </p:blipFill>
        <p:spPr>
          <a:xfrm>
            <a:off x="152400" y="4167751"/>
            <a:ext cx="8839200" cy="61918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Feed Forward Neural Network (1/5)</a:t>
            </a:r>
            <a:endParaRPr/>
          </a:p>
        </p:txBody>
      </p:sp>
      <p:sp>
        <p:nvSpPr>
          <p:cNvPr id="151" name="Google Shape;151;p29"/>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a"/>
              <a:t>FFNN </a:t>
            </a:r>
            <a:r>
              <a:rPr lang="da"/>
              <a:t>(1 hidden layer)</a:t>
            </a:r>
            <a:r>
              <a:rPr lang="da"/>
              <a:t> results:</a:t>
            </a:r>
            <a:endParaRPr/>
          </a:p>
        </p:txBody>
      </p:sp>
      <p:pic>
        <p:nvPicPr>
          <p:cNvPr id="152" name="Google Shape;152;p29" title="CM_1_layer.png"/>
          <p:cNvPicPr preferRelativeResize="0"/>
          <p:nvPr/>
        </p:nvPicPr>
        <p:blipFill>
          <a:blip r:embed="rId3">
            <a:alphaModFix/>
          </a:blip>
          <a:stretch>
            <a:fillRect/>
          </a:stretch>
        </p:blipFill>
        <p:spPr>
          <a:xfrm>
            <a:off x="425100" y="2057225"/>
            <a:ext cx="3746850" cy="2468300"/>
          </a:xfrm>
          <a:prstGeom prst="rect">
            <a:avLst/>
          </a:prstGeom>
          <a:noFill/>
          <a:ln>
            <a:noFill/>
          </a:ln>
        </p:spPr>
      </p:pic>
      <p:pic>
        <p:nvPicPr>
          <p:cNvPr id="153" name="Google Shape;153;p29" title="plot_1_layer.png"/>
          <p:cNvPicPr preferRelativeResize="0"/>
          <p:nvPr/>
        </p:nvPicPr>
        <p:blipFill>
          <a:blip r:embed="rId4">
            <a:alphaModFix/>
          </a:blip>
          <a:stretch>
            <a:fillRect/>
          </a:stretch>
        </p:blipFill>
        <p:spPr>
          <a:xfrm>
            <a:off x="4652649" y="1725175"/>
            <a:ext cx="4320626" cy="290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Feed Forward Neural Network (2/5)</a:t>
            </a:r>
            <a:endParaRPr/>
          </a:p>
        </p:txBody>
      </p:sp>
      <p:sp>
        <p:nvSpPr>
          <p:cNvPr id="159" name="Google Shape;159;p30"/>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a"/>
              <a:t>FFNN (3 hidden layer) results:</a:t>
            </a:r>
            <a:endParaRPr/>
          </a:p>
        </p:txBody>
      </p:sp>
      <p:pic>
        <p:nvPicPr>
          <p:cNvPr id="160" name="Google Shape;160;p30" title="CM_3_layer.png"/>
          <p:cNvPicPr preferRelativeResize="0"/>
          <p:nvPr/>
        </p:nvPicPr>
        <p:blipFill>
          <a:blip r:embed="rId3">
            <a:alphaModFix/>
          </a:blip>
          <a:stretch>
            <a:fillRect/>
          </a:stretch>
        </p:blipFill>
        <p:spPr>
          <a:xfrm>
            <a:off x="391275" y="2036250"/>
            <a:ext cx="3733050" cy="2479750"/>
          </a:xfrm>
          <a:prstGeom prst="rect">
            <a:avLst/>
          </a:prstGeom>
          <a:noFill/>
          <a:ln>
            <a:noFill/>
          </a:ln>
        </p:spPr>
      </p:pic>
      <p:pic>
        <p:nvPicPr>
          <p:cNvPr id="161" name="Google Shape;161;p30" title="plot_3_layer.png"/>
          <p:cNvPicPr preferRelativeResize="0"/>
          <p:nvPr/>
        </p:nvPicPr>
        <p:blipFill>
          <a:blip r:embed="rId4">
            <a:alphaModFix/>
          </a:blip>
          <a:stretch>
            <a:fillRect/>
          </a:stretch>
        </p:blipFill>
        <p:spPr>
          <a:xfrm>
            <a:off x="4675750" y="1725175"/>
            <a:ext cx="4298374" cy="2886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da"/>
              <a:t>Feed Forward Neural Network (3/5)</a:t>
            </a:r>
            <a:endParaRPr/>
          </a:p>
        </p:txBody>
      </p:sp>
      <p:graphicFrame>
        <p:nvGraphicFramePr>
          <p:cNvPr id="167" name="Google Shape;167;p31"/>
          <p:cNvGraphicFramePr/>
          <p:nvPr/>
        </p:nvGraphicFramePr>
        <p:xfrm>
          <a:off x="952500" y="2000250"/>
          <a:ext cx="3000000" cy="3000000"/>
        </p:xfrm>
        <a:graphic>
          <a:graphicData uri="http://schemas.openxmlformats.org/drawingml/2006/table">
            <a:tbl>
              <a:tblPr>
                <a:noFill/>
                <a:tableStyleId>{0560B17E-4FB6-4CDA-8E6B-3F0B177B7934}</a:tableStyleId>
              </a:tblPr>
              <a:tblGrid>
                <a:gridCol w="1809750"/>
                <a:gridCol w="1809750"/>
                <a:gridCol w="1962425"/>
                <a:gridCol w="1657075"/>
              </a:tblGrid>
              <a:tr h="381000">
                <a:tc>
                  <a:txBody>
                    <a:bodyPr/>
                    <a:lstStyle/>
                    <a:p>
                      <a:pPr indent="0" lvl="0" marL="0" rtl="0" algn="ctr">
                        <a:spcBef>
                          <a:spcPts val="0"/>
                        </a:spcBef>
                        <a:spcAft>
                          <a:spcPts val="0"/>
                        </a:spcAft>
                        <a:buNone/>
                      </a:pPr>
                      <a:r>
                        <a:t/>
                      </a:r>
                      <a:endParaRPr sz="1800"/>
                    </a:p>
                  </a:txBody>
                  <a:tcPr marT="91425" marB="91425" marR="91425" marL="91425"/>
                </a:tc>
                <a:tc>
                  <a:txBody>
                    <a:bodyPr/>
                    <a:lstStyle/>
                    <a:p>
                      <a:pPr indent="0" lvl="0" marL="0" rtl="0" algn="ctr">
                        <a:spcBef>
                          <a:spcPts val="0"/>
                        </a:spcBef>
                        <a:spcAft>
                          <a:spcPts val="0"/>
                        </a:spcAft>
                        <a:buNone/>
                      </a:pPr>
                      <a:r>
                        <a:rPr b="1" lang="da" sz="1800"/>
                        <a:t>FFNN (1 layer)</a:t>
                      </a:r>
                      <a:endParaRPr b="1" sz="1800"/>
                    </a:p>
                  </a:txBody>
                  <a:tcPr marT="91425" marB="91425" marR="91425" marL="91425"/>
                </a:tc>
                <a:tc>
                  <a:txBody>
                    <a:bodyPr/>
                    <a:lstStyle/>
                    <a:p>
                      <a:pPr indent="0" lvl="0" marL="0" rtl="0" algn="ctr">
                        <a:spcBef>
                          <a:spcPts val="0"/>
                        </a:spcBef>
                        <a:spcAft>
                          <a:spcPts val="0"/>
                        </a:spcAft>
                        <a:buNone/>
                      </a:pPr>
                      <a:r>
                        <a:rPr b="1" lang="da" sz="1800"/>
                        <a:t>FFNN (3 layers)</a:t>
                      </a:r>
                      <a:endParaRPr b="1" sz="1800"/>
                    </a:p>
                  </a:txBody>
                  <a:tcPr marT="91425" marB="91425" marR="91425" marL="91425"/>
                </a:tc>
                <a:tc>
                  <a:txBody>
                    <a:bodyPr/>
                    <a:lstStyle/>
                    <a:p>
                      <a:pPr indent="0" lvl="0" marL="0" rtl="0" algn="ctr">
                        <a:spcBef>
                          <a:spcPts val="0"/>
                        </a:spcBef>
                        <a:spcAft>
                          <a:spcPts val="0"/>
                        </a:spcAft>
                        <a:buNone/>
                      </a:pPr>
                      <a:r>
                        <a:rPr b="1" lang="da" sz="1800"/>
                        <a:t>XGBoost</a:t>
                      </a:r>
                      <a:endParaRPr b="1" sz="1800"/>
                    </a:p>
                  </a:txBody>
                  <a:tcPr marT="91425" marB="91425" marR="91425" marL="91425"/>
                </a:tc>
              </a:tr>
              <a:tr h="381000">
                <a:tc>
                  <a:txBody>
                    <a:bodyPr/>
                    <a:lstStyle/>
                    <a:p>
                      <a:pPr indent="0" lvl="0" marL="0" rtl="0" algn="ctr">
                        <a:spcBef>
                          <a:spcPts val="0"/>
                        </a:spcBef>
                        <a:spcAft>
                          <a:spcPts val="0"/>
                        </a:spcAft>
                        <a:buNone/>
                      </a:pPr>
                      <a:r>
                        <a:rPr lang="da" sz="1800"/>
                        <a:t>Accuracy</a:t>
                      </a:r>
                      <a:endParaRPr sz="1800"/>
                    </a:p>
                  </a:txBody>
                  <a:tcPr marT="91425" marB="91425" marR="91425" marL="91425"/>
                </a:tc>
                <a:tc>
                  <a:txBody>
                    <a:bodyPr/>
                    <a:lstStyle/>
                    <a:p>
                      <a:pPr indent="0" lvl="0" marL="0" rtl="0" algn="ctr">
                        <a:spcBef>
                          <a:spcPts val="0"/>
                        </a:spcBef>
                        <a:spcAft>
                          <a:spcPts val="0"/>
                        </a:spcAft>
                        <a:buNone/>
                      </a:pPr>
                      <a:r>
                        <a:rPr lang="da" sz="1800"/>
                        <a:t>0.803</a:t>
                      </a:r>
                      <a:endParaRPr sz="1800"/>
                    </a:p>
                  </a:txBody>
                  <a:tcPr marT="91425" marB="91425" marR="91425" marL="91425"/>
                </a:tc>
                <a:tc>
                  <a:txBody>
                    <a:bodyPr/>
                    <a:lstStyle/>
                    <a:p>
                      <a:pPr indent="0" lvl="0" marL="0" rtl="0" algn="ctr">
                        <a:spcBef>
                          <a:spcPts val="0"/>
                        </a:spcBef>
                        <a:spcAft>
                          <a:spcPts val="0"/>
                        </a:spcAft>
                        <a:buNone/>
                      </a:pPr>
                      <a:r>
                        <a:rPr lang="da" sz="1800"/>
                        <a:t>0.804</a:t>
                      </a:r>
                      <a:endParaRPr sz="1800"/>
                    </a:p>
                  </a:txBody>
                  <a:tcPr marT="91425" marB="91425" marR="91425" marL="91425"/>
                </a:tc>
                <a:tc>
                  <a:txBody>
                    <a:bodyPr/>
                    <a:lstStyle/>
                    <a:p>
                      <a:pPr indent="0" lvl="0" marL="0" rtl="0" algn="ctr">
                        <a:spcBef>
                          <a:spcPts val="0"/>
                        </a:spcBef>
                        <a:spcAft>
                          <a:spcPts val="0"/>
                        </a:spcAft>
                        <a:buNone/>
                      </a:pPr>
                      <a:r>
                        <a:rPr lang="da" sz="1800"/>
                        <a:t>0.808</a:t>
                      </a:r>
                      <a:endParaRPr sz="1800"/>
                    </a:p>
                  </a:txBody>
                  <a:tcPr marT="91425" marB="91425" marR="91425" marL="91425"/>
                </a:tc>
              </a:tr>
              <a:tr h="381000">
                <a:tc>
                  <a:txBody>
                    <a:bodyPr/>
                    <a:lstStyle/>
                    <a:p>
                      <a:pPr indent="0" lvl="0" marL="0" rtl="0" algn="ctr">
                        <a:spcBef>
                          <a:spcPts val="0"/>
                        </a:spcBef>
                        <a:spcAft>
                          <a:spcPts val="0"/>
                        </a:spcAft>
                        <a:buNone/>
                      </a:pPr>
                      <a:r>
                        <a:rPr lang="da" sz="1800"/>
                        <a:t>F2 score</a:t>
                      </a:r>
                      <a:endParaRPr sz="1800"/>
                    </a:p>
                  </a:txBody>
                  <a:tcPr marT="91425" marB="91425" marR="91425" marL="91425"/>
                </a:tc>
                <a:tc>
                  <a:txBody>
                    <a:bodyPr/>
                    <a:lstStyle/>
                    <a:p>
                      <a:pPr indent="0" lvl="0" marL="0" rtl="0" algn="ctr">
                        <a:spcBef>
                          <a:spcPts val="0"/>
                        </a:spcBef>
                        <a:spcAft>
                          <a:spcPts val="0"/>
                        </a:spcAft>
                        <a:buNone/>
                      </a:pPr>
                      <a:r>
                        <a:rPr lang="da" sz="1800"/>
                        <a:t>0.549</a:t>
                      </a:r>
                      <a:endParaRPr sz="1800"/>
                    </a:p>
                  </a:txBody>
                  <a:tcPr marT="91425" marB="91425" marR="91425" marL="91425"/>
                </a:tc>
                <a:tc>
                  <a:txBody>
                    <a:bodyPr/>
                    <a:lstStyle/>
                    <a:p>
                      <a:pPr indent="0" lvl="0" marL="0" rtl="0" algn="ctr">
                        <a:spcBef>
                          <a:spcPts val="0"/>
                        </a:spcBef>
                        <a:spcAft>
                          <a:spcPts val="0"/>
                        </a:spcAft>
                        <a:buNone/>
                      </a:pPr>
                      <a:r>
                        <a:rPr lang="da" sz="1800"/>
                        <a:t>0.556</a:t>
                      </a:r>
                      <a:endParaRPr sz="1800"/>
                    </a:p>
                  </a:txBody>
                  <a:tcPr marT="91425" marB="91425" marR="91425" marL="91425"/>
                </a:tc>
                <a:tc>
                  <a:txBody>
                    <a:bodyPr/>
                    <a:lstStyle/>
                    <a:p>
                      <a:pPr indent="0" lvl="0" marL="0" rtl="0" algn="ctr">
                        <a:spcBef>
                          <a:spcPts val="0"/>
                        </a:spcBef>
                        <a:spcAft>
                          <a:spcPts val="0"/>
                        </a:spcAft>
                        <a:buNone/>
                      </a:pPr>
                      <a:r>
                        <a:rPr lang="da" sz="1800"/>
                        <a:t>0.564</a:t>
                      </a:r>
                      <a:endParaRPr sz="1800"/>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da"/>
              <a:t>Feed Forward Neural Network (4/5) </a:t>
            </a:r>
            <a:endParaRPr/>
          </a:p>
        </p:txBody>
      </p:sp>
      <p:pic>
        <p:nvPicPr>
          <p:cNvPr id="173" name="Google Shape;173;p32" title="FFNN_SHAP.png"/>
          <p:cNvPicPr preferRelativeResize="0"/>
          <p:nvPr/>
        </p:nvPicPr>
        <p:blipFill>
          <a:blip r:embed="rId3">
            <a:alphaModFix/>
          </a:blip>
          <a:stretch>
            <a:fillRect/>
          </a:stretch>
        </p:blipFill>
        <p:spPr>
          <a:xfrm>
            <a:off x="2866798" y="1017725"/>
            <a:ext cx="3410425" cy="40375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da"/>
              <a:t>Feed Forward Neural Network (5/5)</a:t>
            </a:r>
            <a:endParaRPr/>
          </a:p>
        </p:txBody>
      </p:sp>
      <p:sp>
        <p:nvSpPr>
          <p:cNvPr id="179" name="Google Shape;179;p33"/>
          <p:cNvSpPr txBox="1"/>
          <p:nvPr>
            <p:ph idx="1" type="body"/>
          </p:nvPr>
        </p:nvSpPr>
        <p:spPr>
          <a:xfrm>
            <a:off x="5598975" y="1616225"/>
            <a:ext cx="1827900" cy="1635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da" sz="3000"/>
              <a:t>Deep Learning</a:t>
            </a:r>
            <a:endParaRPr sz="3000"/>
          </a:p>
        </p:txBody>
      </p:sp>
      <p:sp>
        <p:nvSpPr>
          <p:cNvPr id="180" name="Google Shape;180;p33"/>
          <p:cNvSpPr txBox="1"/>
          <p:nvPr>
            <p:ph idx="1" type="body"/>
          </p:nvPr>
        </p:nvSpPr>
        <p:spPr>
          <a:xfrm>
            <a:off x="1717125" y="1645625"/>
            <a:ext cx="1945500" cy="15765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da" sz="3000"/>
              <a:t>Shallow Learning</a:t>
            </a:r>
            <a:endParaRPr sz="3000"/>
          </a:p>
        </p:txBody>
      </p:sp>
      <p:pic>
        <p:nvPicPr>
          <p:cNvPr id="181" name="Google Shape;181;p33" title="unhappy.png"/>
          <p:cNvPicPr preferRelativeResize="0"/>
          <p:nvPr/>
        </p:nvPicPr>
        <p:blipFill>
          <a:blip r:embed="rId3">
            <a:alphaModFix/>
          </a:blip>
          <a:stretch>
            <a:fillRect/>
          </a:stretch>
        </p:blipFill>
        <p:spPr>
          <a:xfrm>
            <a:off x="3988246" y="3457000"/>
            <a:ext cx="1167500" cy="1205375"/>
          </a:xfrm>
          <a:prstGeom prst="rect">
            <a:avLst/>
          </a:prstGeom>
          <a:noFill/>
          <a:ln>
            <a:noFill/>
          </a:ln>
        </p:spPr>
      </p:pic>
      <p:pic>
        <p:nvPicPr>
          <p:cNvPr id="182" name="Google Shape;182;p33" title="greater_than_1.png"/>
          <p:cNvPicPr preferRelativeResize="0"/>
          <p:nvPr/>
        </p:nvPicPr>
        <p:blipFill>
          <a:blip r:embed="rId4">
            <a:alphaModFix/>
          </a:blip>
          <a:stretch>
            <a:fillRect/>
          </a:stretch>
        </p:blipFill>
        <p:spPr>
          <a:xfrm>
            <a:off x="3961438" y="1771775"/>
            <a:ext cx="1221125" cy="1130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da"/>
              <a:t>Autoencoder (1/2)</a:t>
            </a:r>
            <a:endParaRPr/>
          </a:p>
        </p:txBody>
      </p:sp>
      <p:sp>
        <p:nvSpPr>
          <p:cNvPr id="188" name="Google Shape;188;p34"/>
          <p:cNvSpPr txBox="1"/>
          <p:nvPr>
            <p:ph idx="1" type="body"/>
          </p:nvPr>
        </p:nvSpPr>
        <p:spPr>
          <a:xfrm>
            <a:off x="311700" y="1152475"/>
            <a:ext cx="8520600" cy="450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da" sz="1500"/>
              <a:t>XGBoost WITHOUT Dimensionality Reduction: Accuracy </a:t>
            </a:r>
            <a:r>
              <a:rPr lang="da" sz="1500" u="sng"/>
              <a:t>0.8077</a:t>
            </a:r>
            <a:r>
              <a:rPr lang="da" sz="1500"/>
              <a:t>, F2 Score: </a:t>
            </a:r>
            <a:r>
              <a:rPr lang="da" sz="1500" u="sng"/>
              <a:t>0.5642</a:t>
            </a:r>
            <a:endParaRPr sz="1500" u="sng"/>
          </a:p>
        </p:txBody>
      </p:sp>
      <p:pic>
        <p:nvPicPr>
          <p:cNvPr id="189" name="Google Shape;189;p34" title="autoencoder_plot.jpg"/>
          <p:cNvPicPr preferRelativeResize="0"/>
          <p:nvPr/>
        </p:nvPicPr>
        <p:blipFill>
          <a:blip r:embed="rId3">
            <a:alphaModFix/>
          </a:blip>
          <a:stretch>
            <a:fillRect/>
          </a:stretch>
        </p:blipFill>
        <p:spPr>
          <a:xfrm>
            <a:off x="1636825" y="1737825"/>
            <a:ext cx="5870349" cy="32356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Autoencoder (2/2)</a:t>
            </a:r>
            <a:endParaRPr/>
          </a:p>
        </p:txBody>
      </p:sp>
      <p:sp>
        <p:nvSpPr>
          <p:cNvPr id="195" name="Google Shape;195;p35"/>
          <p:cNvSpPr txBox="1"/>
          <p:nvPr>
            <p:ph idx="1" type="body"/>
          </p:nvPr>
        </p:nvSpPr>
        <p:spPr>
          <a:xfrm>
            <a:off x="5864713" y="1862875"/>
            <a:ext cx="2617800" cy="24399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da" sz="3000"/>
              <a:t>Accuracy </a:t>
            </a:r>
            <a:r>
              <a:rPr b="1" lang="da" sz="3000"/>
              <a:t>WITH</a:t>
            </a:r>
            <a:r>
              <a:rPr lang="da" sz="3000"/>
              <a:t> dimensionality reduction </a:t>
            </a:r>
            <a:endParaRPr sz="3000"/>
          </a:p>
        </p:txBody>
      </p:sp>
      <p:sp>
        <p:nvSpPr>
          <p:cNvPr id="196" name="Google Shape;196;p35"/>
          <p:cNvSpPr txBox="1"/>
          <p:nvPr>
            <p:ph idx="1" type="body"/>
          </p:nvPr>
        </p:nvSpPr>
        <p:spPr>
          <a:xfrm>
            <a:off x="661488" y="1892275"/>
            <a:ext cx="2994600" cy="23400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da" sz="3000"/>
              <a:t>Accuracy </a:t>
            </a:r>
            <a:r>
              <a:rPr b="1" lang="da" sz="3000"/>
              <a:t>WITHOUT</a:t>
            </a:r>
            <a:r>
              <a:rPr lang="da" sz="3000"/>
              <a:t> dimensionality reduction </a:t>
            </a:r>
            <a:endParaRPr sz="3000"/>
          </a:p>
        </p:txBody>
      </p:sp>
      <p:pic>
        <p:nvPicPr>
          <p:cNvPr id="197" name="Google Shape;197;p35" title="greater_than_1.png"/>
          <p:cNvPicPr preferRelativeResize="0"/>
          <p:nvPr/>
        </p:nvPicPr>
        <p:blipFill>
          <a:blip r:embed="rId3">
            <a:alphaModFix/>
          </a:blip>
          <a:stretch>
            <a:fillRect/>
          </a:stretch>
        </p:blipFill>
        <p:spPr>
          <a:xfrm>
            <a:off x="4092150" y="2497175"/>
            <a:ext cx="1221125" cy="1130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Feature Engineering</a:t>
            </a:r>
            <a:endParaRPr/>
          </a:p>
        </p:txBody>
      </p:sp>
      <p:sp>
        <p:nvSpPr>
          <p:cNvPr id="203" name="Google Shape;2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a"/>
              <a:t>Tenure Buckets</a:t>
            </a:r>
            <a:endParaRPr/>
          </a:p>
          <a:p>
            <a:pPr indent="-342900" lvl="0" marL="457200" rtl="0" algn="l">
              <a:spcBef>
                <a:spcPts val="0"/>
              </a:spcBef>
              <a:spcAft>
                <a:spcPts val="0"/>
              </a:spcAft>
              <a:buSzPts val="1800"/>
              <a:buChar char="●"/>
            </a:pPr>
            <a:r>
              <a:rPr lang="da"/>
              <a:t>Average Monthly Spend</a:t>
            </a:r>
            <a:endParaRPr/>
          </a:p>
          <a:p>
            <a:pPr indent="-342900" lvl="0" marL="457200" rtl="0" algn="l">
              <a:spcBef>
                <a:spcPts val="0"/>
              </a:spcBef>
              <a:spcAft>
                <a:spcPts val="0"/>
              </a:spcAft>
              <a:buSzPts val="1800"/>
              <a:buChar char="●"/>
            </a:pPr>
            <a:r>
              <a:rPr lang="da"/>
              <a:t>Month-to-Month Contract Flag</a:t>
            </a:r>
            <a:endParaRPr/>
          </a:p>
          <a:p>
            <a:pPr indent="-342900" lvl="0" marL="457200" rtl="0" algn="l">
              <a:spcBef>
                <a:spcPts val="0"/>
              </a:spcBef>
              <a:spcAft>
                <a:spcPts val="0"/>
              </a:spcAft>
              <a:buSzPts val="1800"/>
              <a:buChar char="●"/>
            </a:pPr>
            <a:r>
              <a:rPr lang="da"/>
              <a:t>Tenure * Contract Interaction</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pic>
        <p:nvPicPr>
          <p:cNvPr id="204" name="Google Shape;204;p36" title="unhappy.png"/>
          <p:cNvPicPr preferRelativeResize="0"/>
          <p:nvPr/>
        </p:nvPicPr>
        <p:blipFill>
          <a:blip r:embed="rId3">
            <a:alphaModFix/>
          </a:blip>
          <a:stretch>
            <a:fillRect/>
          </a:stretch>
        </p:blipFill>
        <p:spPr>
          <a:xfrm>
            <a:off x="3988246" y="2940475"/>
            <a:ext cx="1167500" cy="1205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7"/>
          <p:cNvPicPr preferRelativeResize="0"/>
          <p:nvPr/>
        </p:nvPicPr>
        <p:blipFill>
          <a:blip r:embed="rId3">
            <a:alphaModFix/>
          </a:blip>
          <a:stretch>
            <a:fillRect/>
          </a:stretch>
        </p:blipFill>
        <p:spPr>
          <a:xfrm>
            <a:off x="0" y="1709363"/>
            <a:ext cx="2516401" cy="2953112"/>
          </a:xfrm>
          <a:prstGeom prst="rect">
            <a:avLst/>
          </a:prstGeom>
          <a:noFill/>
          <a:ln>
            <a:noFill/>
          </a:ln>
        </p:spPr>
      </p:pic>
      <p:sp>
        <p:nvSpPr>
          <p:cNvPr id="210" name="Google Shape;21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SHAP values</a:t>
            </a:r>
            <a:endParaRPr/>
          </a:p>
        </p:txBody>
      </p:sp>
      <p:pic>
        <p:nvPicPr>
          <p:cNvPr id="211" name="Google Shape;211;p37"/>
          <p:cNvPicPr preferRelativeResize="0"/>
          <p:nvPr/>
        </p:nvPicPr>
        <p:blipFill>
          <a:blip r:embed="rId4">
            <a:alphaModFix/>
          </a:blip>
          <a:stretch>
            <a:fillRect/>
          </a:stretch>
        </p:blipFill>
        <p:spPr>
          <a:xfrm>
            <a:off x="2202725" y="1764175"/>
            <a:ext cx="2447336" cy="2953101"/>
          </a:xfrm>
          <a:prstGeom prst="rect">
            <a:avLst/>
          </a:prstGeom>
          <a:noFill/>
          <a:ln>
            <a:noFill/>
          </a:ln>
        </p:spPr>
      </p:pic>
      <p:pic>
        <p:nvPicPr>
          <p:cNvPr id="212" name="Google Shape;212;p37"/>
          <p:cNvPicPr preferRelativeResize="0"/>
          <p:nvPr/>
        </p:nvPicPr>
        <p:blipFill>
          <a:blip r:embed="rId5">
            <a:alphaModFix/>
          </a:blip>
          <a:stretch>
            <a:fillRect/>
          </a:stretch>
        </p:blipFill>
        <p:spPr>
          <a:xfrm>
            <a:off x="4424575" y="1709375"/>
            <a:ext cx="2389617" cy="2953100"/>
          </a:xfrm>
          <a:prstGeom prst="rect">
            <a:avLst/>
          </a:prstGeom>
          <a:noFill/>
          <a:ln>
            <a:noFill/>
          </a:ln>
        </p:spPr>
      </p:pic>
      <p:pic>
        <p:nvPicPr>
          <p:cNvPr id="213" name="Google Shape;213;p37"/>
          <p:cNvPicPr preferRelativeResize="0"/>
          <p:nvPr/>
        </p:nvPicPr>
        <p:blipFill>
          <a:blip r:embed="rId6">
            <a:alphaModFix/>
          </a:blip>
          <a:stretch>
            <a:fillRect/>
          </a:stretch>
        </p:blipFill>
        <p:spPr>
          <a:xfrm>
            <a:off x="6582875" y="1709375"/>
            <a:ext cx="2561117" cy="3062700"/>
          </a:xfrm>
          <a:prstGeom prst="rect">
            <a:avLst/>
          </a:prstGeom>
          <a:noFill/>
          <a:ln>
            <a:noFill/>
          </a:ln>
        </p:spPr>
      </p:pic>
      <p:sp>
        <p:nvSpPr>
          <p:cNvPr id="214" name="Google Shape;214;p37"/>
          <p:cNvSpPr txBox="1"/>
          <p:nvPr/>
        </p:nvSpPr>
        <p:spPr>
          <a:xfrm>
            <a:off x="401325" y="1105700"/>
            <a:ext cx="8430900" cy="3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a" sz="1800">
                <a:solidFill>
                  <a:schemeClr val="dk2"/>
                </a:solidFill>
              </a:rPr>
              <a:t>Logistic Regression	Random forrest		XGBoost			FFNN</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SHAP and XGB feature importance side by side</a:t>
            </a:r>
            <a:endParaRPr/>
          </a:p>
        </p:txBody>
      </p:sp>
      <p:pic>
        <p:nvPicPr>
          <p:cNvPr id="220" name="Google Shape;220;p38"/>
          <p:cNvPicPr preferRelativeResize="0"/>
          <p:nvPr/>
        </p:nvPicPr>
        <p:blipFill>
          <a:blip r:embed="rId3">
            <a:alphaModFix/>
          </a:blip>
          <a:stretch>
            <a:fillRect/>
          </a:stretch>
        </p:blipFill>
        <p:spPr>
          <a:xfrm>
            <a:off x="332345" y="1369750"/>
            <a:ext cx="4574505" cy="3416399"/>
          </a:xfrm>
          <a:prstGeom prst="rect">
            <a:avLst/>
          </a:prstGeom>
          <a:noFill/>
          <a:ln>
            <a:noFill/>
          </a:ln>
        </p:spPr>
      </p:pic>
      <p:pic>
        <p:nvPicPr>
          <p:cNvPr id="221" name="Google Shape;221;p38"/>
          <p:cNvPicPr preferRelativeResize="0"/>
          <p:nvPr/>
        </p:nvPicPr>
        <p:blipFill>
          <a:blip r:embed="rId4">
            <a:alphaModFix/>
          </a:blip>
          <a:stretch>
            <a:fillRect/>
          </a:stretch>
        </p:blipFill>
        <p:spPr>
          <a:xfrm>
            <a:off x="5338358" y="1152475"/>
            <a:ext cx="3395143" cy="3991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da" sz="2420"/>
              <a:t>Dependency </a:t>
            </a:r>
            <a:r>
              <a:rPr lang="da" sz="2420"/>
              <a:t>plot </a:t>
            </a:r>
            <a:r>
              <a:rPr lang="da" sz="2420"/>
              <a:t>for the two most important features in XGB</a:t>
            </a:r>
            <a:endParaRPr sz="2420"/>
          </a:p>
        </p:txBody>
      </p:sp>
      <p:sp>
        <p:nvSpPr>
          <p:cNvPr id="227" name="Google Shape;227;p39"/>
          <p:cNvSpPr txBox="1"/>
          <p:nvPr>
            <p:ph idx="1" type="body"/>
          </p:nvPr>
        </p:nvSpPr>
        <p:spPr>
          <a:xfrm>
            <a:off x="7010875" y="1152475"/>
            <a:ext cx="1821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a" sz="1050">
                <a:solidFill>
                  <a:schemeClr val="dk1"/>
                </a:solidFill>
                <a:highlight>
                  <a:schemeClr val="lt1"/>
                </a:highlight>
              </a:rPr>
              <a:t>Month-to-month → 0</a:t>
            </a:r>
            <a:endParaRPr sz="1050">
              <a:solidFill>
                <a:schemeClr val="dk1"/>
              </a:solidFill>
              <a:highlight>
                <a:schemeClr val="lt1"/>
              </a:highlight>
            </a:endParaRPr>
          </a:p>
          <a:p>
            <a:pPr indent="0" lvl="0" marL="0" rtl="0" algn="l">
              <a:spcBef>
                <a:spcPts val="1200"/>
              </a:spcBef>
              <a:spcAft>
                <a:spcPts val="0"/>
              </a:spcAft>
              <a:buNone/>
            </a:pPr>
            <a:r>
              <a:rPr lang="da" sz="1050">
                <a:solidFill>
                  <a:schemeClr val="dk1"/>
                </a:solidFill>
                <a:highlight>
                  <a:schemeClr val="lt1"/>
                </a:highlight>
              </a:rPr>
              <a:t>One year       → 1</a:t>
            </a:r>
            <a:endParaRPr sz="1050">
              <a:solidFill>
                <a:schemeClr val="dk1"/>
              </a:solidFill>
              <a:highlight>
                <a:schemeClr val="lt1"/>
              </a:highlight>
            </a:endParaRPr>
          </a:p>
          <a:p>
            <a:pPr indent="0" lvl="0" marL="0" rtl="0" algn="l">
              <a:spcBef>
                <a:spcPts val="1200"/>
              </a:spcBef>
              <a:spcAft>
                <a:spcPts val="1200"/>
              </a:spcAft>
              <a:buNone/>
            </a:pPr>
            <a:r>
              <a:rPr lang="da" sz="1050">
                <a:solidFill>
                  <a:schemeClr val="dk1"/>
                </a:solidFill>
                <a:highlight>
                  <a:schemeClr val="lt1"/>
                </a:highlight>
              </a:rPr>
              <a:t>Two year       → 2</a:t>
            </a:r>
            <a:endParaRPr>
              <a:solidFill>
                <a:schemeClr val="dk1"/>
              </a:solidFill>
              <a:highlight>
                <a:schemeClr val="lt1"/>
              </a:highlight>
            </a:endParaRPr>
          </a:p>
        </p:txBody>
      </p:sp>
      <p:pic>
        <p:nvPicPr>
          <p:cNvPr id="228" name="Google Shape;228;p39"/>
          <p:cNvPicPr preferRelativeResize="0"/>
          <p:nvPr/>
        </p:nvPicPr>
        <p:blipFill>
          <a:blip r:embed="rId3">
            <a:alphaModFix/>
          </a:blip>
          <a:stretch>
            <a:fillRect/>
          </a:stretch>
        </p:blipFill>
        <p:spPr>
          <a:xfrm>
            <a:off x="1112925" y="1152475"/>
            <a:ext cx="5714351" cy="3822874"/>
          </a:xfrm>
          <a:prstGeom prst="rect">
            <a:avLst/>
          </a:prstGeom>
          <a:noFill/>
          <a:ln>
            <a:noFill/>
          </a:ln>
        </p:spPr>
      </p:pic>
      <p:sp>
        <p:nvSpPr>
          <p:cNvPr id="229" name="Google Shape;229;p39"/>
          <p:cNvSpPr txBox="1"/>
          <p:nvPr/>
        </p:nvSpPr>
        <p:spPr>
          <a:xfrm>
            <a:off x="230900" y="1202650"/>
            <a:ext cx="837000" cy="3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a">
                <a:solidFill>
                  <a:schemeClr val="dk2"/>
                </a:solidFill>
              </a:rPr>
              <a:t>churn</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da">
                <a:solidFill>
                  <a:schemeClr val="dk2"/>
                </a:solidFill>
              </a:rPr>
              <a:t>none</a:t>
            </a:r>
            <a:endParaRPr>
              <a:solidFill>
                <a:schemeClr val="dk2"/>
              </a:solidFill>
            </a:endParaRPr>
          </a:p>
          <a:p>
            <a:pPr indent="0" lvl="0" marL="0" rtl="0" algn="l">
              <a:spcBef>
                <a:spcPts val="0"/>
              </a:spcBef>
              <a:spcAft>
                <a:spcPts val="0"/>
              </a:spcAft>
              <a:buNone/>
            </a:pPr>
            <a:r>
              <a:rPr lang="da">
                <a:solidFill>
                  <a:schemeClr val="dk2"/>
                </a:solidFill>
              </a:rPr>
              <a:t>churn</a:t>
            </a:r>
            <a:endParaRPr sz="13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FN and TP for XGB</a:t>
            </a:r>
            <a:endParaRPr/>
          </a:p>
        </p:txBody>
      </p:sp>
      <p:sp>
        <p:nvSpPr>
          <p:cNvPr id="235" name="Google Shape;235;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6" name="Google Shape;236;p40"/>
          <p:cNvPicPr preferRelativeResize="0"/>
          <p:nvPr/>
        </p:nvPicPr>
        <p:blipFill>
          <a:blip r:embed="rId3">
            <a:alphaModFix/>
          </a:blip>
          <a:stretch>
            <a:fillRect/>
          </a:stretch>
        </p:blipFill>
        <p:spPr>
          <a:xfrm>
            <a:off x="1172356" y="943837"/>
            <a:ext cx="3399643" cy="4125776"/>
          </a:xfrm>
          <a:prstGeom prst="rect">
            <a:avLst/>
          </a:prstGeom>
          <a:noFill/>
          <a:ln>
            <a:noFill/>
          </a:ln>
        </p:spPr>
      </p:pic>
      <p:pic>
        <p:nvPicPr>
          <p:cNvPr id="237" name="Google Shape;237;p40"/>
          <p:cNvPicPr preferRelativeResize="0"/>
          <p:nvPr/>
        </p:nvPicPr>
        <p:blipFill>
          <a:blip r:embed="rId4">
            <a:alphaModFix/>
          </a:blip>
          <a:stretch>
            <a:fillRect/>
          </a:stretch>
        </p:blipFill>
        <p:spPr>
          <a:xfrm>
            <a:off x="5012172" y="982850"/>
            <a:ext cx="3334825" cy="4047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feature </a:t>
            </a:r>
            <a:r>
              <a:rPr lang="da"/>
              <a:t>engineering</a:t>
            </a:r>
            <a:r>
              <a:rPr lang="da"/>
              <a:t> based on SHAP (XGB)</a:t>
            </a:r>
            <a:endParaRPr/>
          </a:p>
        </p:txBody>
      </p:sp>
      <p:sp>
        <p:nvSpPr>
          <p:cNvPr id="243" name="Google Shape;24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a"/>
              <a:t>contract x tenure</a:t>
            </a:r>
            <a:endParaRPr/>
          </a:p>
          <a:p>
            <a:pPr indent="-342900" lvl="0" marL="457200" rtl="0" algn="l">
              <a:spcBef>
                <a:spcPts val="1200"/>
              </a:spcBef>
              <a:spcAft>
                <a:spcPts val="0"/>
              </a:spcAft>
              <a:buSzPts val="1800"/>
              <a:buChar char="●"/>
            </a:pPr>
            <a:r>
              <a:rPr lang="da"/>
              <a:t>Increase acc by 0.6%</a:t>
            </a:r>
            <a:endParaRPr/>
          </a:p>
          <a:p>
            <a:pPr indent="-342900" lvl="0" marL="457200" rtl="0" algn="l">
              <a:spcBef>
                <a:spcPts val="0"/>
              </a:spcBef>
              <a:spcAft>
                <a:spcPts val="0"/>
              </a:spcAft>
              <a:buSzPts val="1800"/>
              <a:buChar char="●"/>
            </a:pPr>
            <a:r>
              <a:rPr lang="da"/>
              <a:t>recall increase by</a:t>
            </a:r>
            <a:br>
              <a:rPr lang="da"/>
            </a:br>
            <a:r>
              <a:rPr lang="da"/>
              <a:t>0.01.</a:t>
            </a:r>
            <a:endParaRPr/>
          </a:p>
        </p:txBody>
      </p:sp>
      <p:pic>
        <p:nvPicPr>
          <p:cNvPr id="244" name="Google Shape;244;p41"/>
          <p:cNvPicPr preferRelativeResize="0"/>
          <p:nvPr/>
        </p:nvPicPr>
        <p:blipFill>
          <a:blip r:embed="rId3">
            <a:alphaModFix/>
          </a:blip>
          <a:stretch>
            <a:fillRect/>
          </a:stretch>
        </p:blipFill>
        <p:spPr>
          <a:xfrm>
            <a:off x="2917991" y="1152475"/>
            <a:ext cx="3308008" cy="3991025"/>
          </a:xfrm>
          <a:prstGeom prst="rect">
            <a:avLst/>
          </a:prstGeom>
          <a:noFill/>
          <a:ln>
            <a:noFill/>
          </a:ln>
        </p:spPr>
      </p:pic>
      <p:pic>
        <p:nvPicPr>
          <p:cNvPr id="245" name="Google Shape;245;p41"/>
          <p:cNvPicPr preferRelativeResize="0"/>
          <p:nvPr/>
        </p:nvPicPr>
        <p:blipFill>
          <a:blip r:embed="rId4">
            <a:alphaModFix/>
          </a:blip>
          <a:stretch>
            <a:fillRect/>
          </a:stretch>
        </p:blipFill>
        <p:spPr>
          <a:xfrm>
            <a:off x="6286822" y="1152475"/>
            <a:ext cx="2992875" cy="36464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futher featureengeering (XGB)</a:t>
            </a:r>
            <a:endParaRPr/>
          </a:p>
        </p:txBody>
      </p:sp>
      <p:sp>
        <p:nvSpPr>
          <p:cNvPr id="251" name="Google Shape;251;p42"/>
          <p:cNvSpPr txBox="1"/>
          <p:nvPr>
            <p:ph idx="1" type="body"/>
          </p:nvPr>
        </p:nvSpPr>
        <p:spPr>
          <a:xfrm>
            <a:off x="311700" y="1152475"/>
            <a:ext cx="22302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da"/>
              <a:t>early_monthly = (tenure &lt; 12) AND (contract == "Month-to-month")</a:t>
            </a:r>
            <a:endParaRPr/>
          </a:p>
          <a:p>
            <a:pPr indent="0" lvl="0" marL="0" rtl="0" algn="l">
              <a:spcBef>
                <a:spcPts val="1200"/>
              </a:spcBef>
              <a:spcAft>
                <a:spcPts val="0"/>
              </a:spcAft>
              <a:buClr>
                <a:schemeClr val="dk1"/>
              </a:buClr>
              <a:buSzPts val="1100"/>
              <a:buFont typeface="Arial"/>
              <a:buNone/>
            </a:pPr>
            <a:r>
              <a:rPr lang="da"/>
              <a:t>since these feature push FN toward non churn. </a:t>
            </a:r>
            <a:endParaRPr/>
          </a:p>
          <a:p>
            <a:pPr indent="0" lvl="0" marL="0" rtl="0" algn="l">
              <a:spcBef>
                <a:spcPts val="1200"/>
              </a:spcBef>
              <a:spcAft>
                <a:spcPts val="0"/>
              </a:spcAft>
              <a:buClr>
                <a:schemeClr val="dk1"/>
              </a:buClr>
              <a:buSzPts val="1100"/>
              <a:buFont typeface="Arial"/>
              <a:buNone/>
            </a:pPr>
            <a:r>
              <a:rPr lang="da"/>
              <a:t>DROP in acc and recall</a:t>
            </a:r>
            <a:endParaRPr/>
          </a:p>
          <a:p>
            <a:pPr indent="0" lvl="0" marL="0" rtl="0" algn="l">
              <a:spcBef>
                <a:spcPts val="1200"/>
              </a:spcBef>
              <a:spcAft>
                <a:spcPts val="1200"/>
              </a:spcAft>
              <a:buNone/>
            </a:pPr>
            <a:r>
              <a:t/>
            </a:r>
            <a:endParaRPr/>
          </a:p>
        </p:txBody>
      </p:sp>
      <p:pic>
        <p:nvPicPr>
          <p:cNvPr id="252" name="Google Shape;252;p42"/>
          <p:cNvPicPr preferRelativeResize="0"/>
          <p:nvPr/>
        </p:nvPicPr>
        <p:blipFill>
          <a:blip r:embed="rId3">
            <a:alphaModFix/>
          </a:blip>
          <a:stretch>
            <a:fillRect/>
          </a:stretch>
        </p:blipFill>
        <p:spPr>
          <a:xfrm>
            <a:off x="2604715" y="152400"/>
            <a:ext cx="4239369" cy="5143500"/>
          </a:xfrm>
          <a:prstGeom prst="rect">
            <a:avLst/>
          </a:prstGeom>
          <a:noFill/>
          <a:ln>
            <a:noFill/>
          </a:ln>
        </p:spPr>
      </p:pic>
      <p:pic>
        <p:nvPicPr>
          <p:cNvPr id="253" name="Google Shape;253;p42"/>
          <p:cNvPicPr preferRelativeResize="0"/>
          <p:nvPr/>
        </p:nvPicPr>
        <p:blipFill>
          <a:blip r:embed="rId4">
            <a:alphaModFix/>
          </a:blip>
          <a:stretch>
            <a:fillRect/>
          </a:stretch>
        </p:blipFill>
        <p:spPr>
          <a:xfrm>
            <a:off x="4267485" y="288925"/>
            <a:ext cx="4256229" cy="51434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change decision </a:t>
            </a:r>
            <a:r>
              <a:rPr lang="da"/>
              <a:t>boundary</a:t>
            </a:r>
            <a:r>
              <a:rPr lang="da"/>
              <a:t> for a high risk subset</a:t>
            </a:r>
            <a:endParaRPr/>
          </a:p>
        </p:txBody>
      </p:sp>
      <p:sp>
        <p:nvSpPr>
          <p:cNvPr id="259" name="Google Shape;259;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high_risk_mask = </a:t>
            </a:r>
            <a:r>
              <a:rPr lang="da" sz="1050">
                <a:solidFill>
                  <a:srgbClr val="FFFF00"/>
                </a:solidFill>
                <a:highlight>
                  <a:schemeClr val="dk1"/>
                </a:highlight>
                <a:latin typeface="Courier New"/>
                <a:ea typeface="Courier New"/>
                <a:cs typeface="Courier New"/>
                <a:sym typeface="Courier New"/>
              </a:rPr>
              <a:t>(</a:t>
            </a:r>
            <a:endParaRPr sz="1050">
              <a:solidFill>
                <a:srgbClr val="FFFF00"/>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    </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X_test_enc</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idx_tenure_contract</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&lt; </a:t>
            </a:r>
            <a:r>
              <a:rPr lang="da" sz="1050">
                <a:solidFill>
                  <a:srgbClr val="569CD6"/>
                </a:solidFill>
                <a:highlight>
                  <a:schemeClr val="dk1"/>
                </a:highlight>
                <a:latin typeface="Courier New"/>
                <a:ea typeface="Courier New"/>
                <a:cs typeface="Courier New"/>
                <a:sym typeface="Courier New"/>
              </a:rPr>
              <a:t>0</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&amp;     </a:t>
            </a:r>
            <a:endParaRPr sz="1050">
              <a:solidFill>
                <a:srgbClr val="608B4E"/>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    </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X_test_enc</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idx_online_security_no</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&gt; </a:t>
            </a:r>
            <a:r>
              <a:rPr lang="da" sz="1050">
                <a:solidFill>
                  <a:srgbClr val="569CD6"/>
                </a:solidFill>
                <a:highlight>
                  <a:schemeClr val="dk1"/>
                </a:highlight>
                <a:latin typeface="Courier New"/>
                <a:ea typeface="Courier New"/>
                <a:cs typeface="Courier New"/>
                <a:sym typeface="Courier New"/>
              </a:rPr>
              <a:t>0.5</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&amp;</a:t>
            </a:r>
            <a:endParaRPr sz="1050">
              <a:solidFill>
                <a:srgbClr val="FFFFFF"/>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    </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X_test_enc</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idx_monthly_charges</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&gt; </a:t>
            </a:r>
            <a:r>
              <a:rPr lang="da" sz="1050">
                <a:solidFill>
                  <a:srgbClr val="569CD6"/>
                </a:solidFill>
                <a:highlight>
                  <a:schemeClr val="dk1"/>
                </a:highlight>
                <a:latin typeface="Courier New"/>
                <a:ea typeface="Courier New"/>
                <a:cs typeface="Courier New"/>
                <a:sym typeface="Courier New"/>
              </a:rPr>
              <a:t>0</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a:t>
            </a:r>
            <a:endParaRPr sz="1050">
              <a:solidFill>
                <a:srgbClr val="608B4E"/>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00"/>
                </a:solidFill>
                <a:highlight>
                  <a:schemeClr val="dk1"/>
                </a:highlight>
                <a:latin typeface="Courier New"/>
                <a:ea typeface="Courier New"/>
                <a:cs typeface="Courier New"/>
                <a:sym typeface="Courier New"/>
              </a:rPr>
              <a:t>)</a:t>
            </a:r>
            <a:endParaRPr sz="1050">
              <a:solidFill>
                <a:srgbClr val="FFFF00"/>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base_threshold = </a:t>
            </a:r>
            <a:r>
              <a:rPr lang="da" sz="1050">
                <a:solidFill>
                  <a:srgbClr val="569CD6"/>
                </a:solidFill>
                <a:highlight>
                  <a:schemeClr val="dk1"/>
                </a:highlight>
                <a:latin typeface="Courier New"/>
                <a:ea typeface="Courier New"/>
                <a:cs typeface="Courier New"/>
                <a:sym typeface="Courier New"/>
              </a:rPr>
              <a:t>0.5</a:t>
            </a:r>
            <a:endParaRPr sz="1050">
              <a:solidFill>
                <a:srgbClr val="569CD6"/>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shap_threshold = </a:t>
            </a:r>
            <a:r>
              <a:rPr lang="da" sz="1050">
                <a:solidFill>
                  <a:srgbClr val="569CD6"/>
                </a:solidFill>
                <a:highlight>
                  <a:schemeClr val="dk1"/>
                </a:highlight>
                <a:latin typeface="Courier New"/>
                <a:ea typeface="Courier New"/>
                <a:cs typeface="Courier New"/>
                <a:sym typeface="Courier New"/>
              </a:rPr>
              <a:t>0.35</a:t>
            </a:r>
            <a:endParaRPr sz="1050">
              <a:solidFill>
                <a:srgbClr val="569CD6"/>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rgbClr val="FFFFFF"/>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y_pred_shap_aware = </a:t>
            </a:r>
            <a:r>
              <a:rPr lang="da" sz="1050">
                <a:solidFill>
                  <a:srgbClr val="FFFF00"/>
                </a:solidFill>
                <a:highlight>
                  <a:schemeClr val="dk1"/>
                </a:highlight>
                <a:latin typeface="Courier New"/>
                <a:ea typeface="Courier New"/>
                <a:cs typeface="Courier New"/>
                <a:sym typeface="Courier New"/>
              </a:rPr>
              <a:t>(</a:t>
            </a:r>
            <a:endParaRPr sz="1050">
              <a:solidFill>
                <a:srgbClr val="FFFF00"/>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    </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y_proba_xg &gt;= base_threshold</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a:t>
            </a:r>
            <a:endParaRPr sz="1050">
              <a:solidFill>
                <a:srgbClr val="FFFFFF"/>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FF"/>
                </a:solidFill>
                <a:highlight>
                  <a:schemeClr val="dk1"/>
                </a:highlight>
                <a:latin typeface="Courier New"/>
                <a:ea typeface="Courier New"/>
                <a:cs typeface="Courier New"/>
                <a:sym typeface="Courier New"/>
              </a:rPr>
              <a:t>    </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y_proba_xg &gt;= shap_threshold</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 &amp; high_risk_mask</a:t>
            </a:r>
            <a:r>
              <a:rPr lang="da" sz="1050">
                <a:solidFill>
                  <a:srgbClr val="FFFF00"/>
                </a:solidFill>
                <a:highlight>
                  <a:schemeClr val="dk1"/>
                </a:highlight>
                <a:latin typeface="Courier New"/>
                <a:ea typeface="Courier New"/>
                <a:cs typeface="Courier New"/>
                <a:sym typeface="Courier New"/>
              </a:rPr>
              <a:t>)</a:t>
            </a:r>
            <a:endParaRPr sz="1050">
              <a:solidFill>
                <a:srgbClr val="FFFF00"/>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.astype</a:t>
            </a:r>
            <a:r>
              <a:rPr lang="da" sz="1050">
                <a:solidFill>
                  <a:srgbClr val="FFFF00"/>
                </a:solidFill>
                <a:highlight>
                  <a:schemeClr val="dk1"/>
                </a:highlight>
                <a:latin typeface="Courier New"/>
                <a:ea typeface="Courier New"/>
                <a:cs typeface="Courier New"/>
                <a:sym typeface="Courier New"/>
              </a:rPr>
              <a:t>(</a:t>
            </a:r>
            <a:r>
              <a:rPr lang="da" sz="1050">
                <a:solidFill>
                  <a:srgbClr val="FFFFFF"/>
                </a:solidFill>
                <a:highlight>
                  <a:schemeClr val="dk1"/>
                </a:highlight>
                <a:latin typeface="Courier New"/>
                <a:ea typeface="Courier New"/>
                <a:cs typeface="Courier New"/>
                <a:sym typeface="Courier New"/>
              </a:rPr>
              <a:t>int</a:t>
            </a:r>
            <a:r>
              <a:rPr lang="da" sz="1050">
                <a:solidFill>
                  <a:srgbClr val="FFFF00"/>
                </a:solidFill>
                <a:highlight>
                  <a:schemeClr val="dk1"/>
                </a:highlight>
                <a:latin typeface="Courier New"/>
                <a:ea typeface="Courier New"/>
                <a:cs typeface="Courier New"/>
                <a:sym typeface="Courier New"/>
              </a:rPr>
              <a:t>)</a:t>
            </a:r>
            <a:endParaRPr sz="1050">
              <a:solidFill>
                <a:srgbClr val="FFFF00"/>
              </a:solidFill>
              <a:highlight>
                <a:schemeClr val="dk1"/>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rgbClr val="FFFFFF"/>
              </a:solidFill>
              <a:highlight>
                <a:schemeClr val="dk1"/>
              </a:highlight>
              <a:latin typeface="Courier New"/>
              <a:ea typeface="Courier New"/>
              <a:cs typeface="Courier New"/>
              <a:sym typeface="Courier New"/>
            </a:endParaRPr>
          </a:p>
          <a:p>
            <a:pPr indent="0" lvl="0" marL="0" rtl="0" algn="l">
              <a:spcBef>
                <a:spcPts val="0"/>
              </a:spcBef>
              <a:spcAft>
                <a:spcPts val="1200"/>
              </a:spcAft>
              <a:buNone/>
            </a:pPr>
            <a:r>
              <a:t/>
            </a:r>
            <a:endParaRPr/>
          </a:p>
        </p:txBody>
      </p:sp>
      <p:pic>
        <p:nvPicPr>
          <p:cNvPr id="260" name="Google Shape;260;p43"/>
          <p:cNvPicPr preferRelativeResize="0"/>
          <p:nvPr/>
        </p:nvPicPr>
        <p:blipFill>
          <a:blip r:embed="rId3">
            <a:alphaModFix/>
          </a:blip>
          <a:stretch>
            <a:fillRect/>
          </a:stretch>
        </p:blipFill>
        <p:spPr>
          <a:xfrm>
            <a:off x="4794503" y="1209100"/>
            <a:ext cx="3927974" cy="3595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4" name="Shape 264"/>
        <p:cNvGrpSpPr/>
        <p:nvPr/>
      </p:nvGrpSpPr>
      <p:grpSpPr>
        <a:xfrm>
          <a:off x="0" y="0"/>
          <a:ext cx="0" cy="0"/>
          <a:chOff x="0" y="0"/>
          <a:chExt cx="0" cy="0"/>
        </a:xfrm>
      </p:grpSpPr>
      <p:sp>
        <p:nvSpPr>
          <p:cNvPr id="265" name="Google Shape;26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a"/>
              <a:t>feature pruning based on shap </a:t>
            </a:r>
            <a:r>
              <a:rPr lang="da"/>
              <a:t>error</a:t>
            </a:r>
            <a:r>
              <a:rPr lang="da"/>
              <a:t> analysis</a:t>
            </a:r>
            <a:endParaRPr/>
          </a:p>
        </p:txBody>
      </p:sp>
      <p:sp>
        <p:nvSpPr>
          <p:cNvPr id="266" name="Google Shape;266;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a"/>
              <a:t>Prune the </a:t>
            </a:r>
            <a:r>
              <a:rPr i="1" lang="da"/>
              <a:t>k</a:t>
            </a:r>
            <a:r>
              <a:rPr lang="da"/>
              <a:t> lowest important features, to reduce noise. </a:t>
            </a:r>
            <a:endParaRPr/>
          </a:p>
          <a:p>
            <a:pPr indent="-342900" lvl="0" marL="457200" rtl="0" algn="l">
              <a:spcBef>
                <a:spcPts val="1200"/>
              </a:spcBef>
              <a:spcAft>
                <a:spcPts val="0"/>
              </a:spcAft>
              <a:buSzPts val="1800"/>
              <a:buChar char="-"/>
            </a:pPr>
            <a:r>
              <a:rPr lang="da"/>
              <a:t>saw very slight improvement in accuracy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da"/>
              <a:t>if any values push FN towards non churn, and don’t contribute much to TP = prune. </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Forskøn dette dias" id="271" name="Google Shape;271;p45"/>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